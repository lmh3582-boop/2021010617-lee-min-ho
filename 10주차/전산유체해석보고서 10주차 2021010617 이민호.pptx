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lals\OneDrive\&#48148;&#53461;%20&#54868;&#47732;\wjstks\wjstks\10&#51452;&#52264;\DESIGNS\DSN_032\DIRECT\DRA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Sheet1!$A$1:$A$32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  <c:pt idx="5">
                  <c:v>8</c:v>
                </c:pt>
                <c:pt idx="6">
                  <c:v>10</c:v>
                </c:pt>
                <c:pt idx="7">
                  <c:v>11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17</c:v>
                </c:pt>
                <c:pt idx="12">
                  <c:v>19</c:v>
                </c:pt>
                <c:pt idx="13">
                  <c:v>21</c:v>
                </c:pt>
                <c:pt idx="14">
                  <c:v>23</c:v>
                </c:pt>
                <c:pt idx="15">
                  <c:v>24</c:v>
                </c:pt>
                <c:pt idx="16">
                  <c:v>25</c:v>
                </c:pt>
                <c:pt idx="17">
                  <c:v>26</c:v>
                </c:pt>
                <c:pt idx="18">
                  <c:v>27</c:v>
                </c:pt>
                <c:pt idx="19">
                  <c:v>28</c:v>
                </c:pt>
                <c:pt idx="20">
                  <c:v>29</c:v>
                </c:pt>
                <c:pt idx="21">
                  <c:v>30</c:v>
                </c:pt>
                <c:pt idx="22">
                  <c:v>31</c:v>
                </c:pt>
                <c:pt idx="23">
                  <c:v>32</c:v>
                </c:pt>
              </c:numCache>
            </c:numRef>
          </c:xVal>
          <c:yVal>
            <c:numRef>
              <c:f>Sheet1!$B$1:$B$32</c:f>
              <c:numCache>
                <c:formatCode>General</c:formatCode>
                <c:ptCount val="32"/>
                <c:pt idx="0">
                  <c:v>2.1480545479999998E-2</c:v>
                </c:pt>
                <c:pt idx="1">
                  <c:v>9.2196320000000002E-3</c:v>
                </c:pt>
                <c:pt idx="2">
                  <c:v>4.1020018970000004E-3</c:v>
                </c:pt>
                <c:pt idx="3">
                  <c:v>2.758595E-3</c:v>
                </c:pt>
                <c:pt idx="4">
                  <c:v>2.2848628250000001E-3</c:v>
                </c:pt>
                <c:pt idx="5">
                  <c:v>1.648807E-3</c:v>
                </c:pt>
                <c:pt idx="6">
                  <c:v>1.989266E-3</c:v>
                </c:pt>
                <c:pt idx="7">
                  <c:v>1.5711500000000001E-3</c:v>
                </c:pt>
                <c:pt idx="8">
                  <c:v>1.336987E-3</c:v>
                </c:pt>
                <c:pt idx="9">
                  <c:v>1.566855E-3</c:v>
                </c:pt>
                <c:pt idx="10">
                  <c:v>1.3119340000000001E-3</c:v>
                </c:pt>
                <c:pt idx="11">
                  <c:v>1.204646E-3</c:v>
                </c:pt>
                <c:pt idx="12">
                  <c:v>1.0861200000000001E-3</c:v>
                </c:pt>
                <c:pt idx="13">
                  <c:v>1.0814916099999999E-3</c:v>
                </c:pt>
                <c:pt idx="14">
                  <c:v>1.2189900000000001E-3</c:v>
                </c:pt>
                <c:pt idx="15">
                  <c:v>1.0896720000000001E-3</c:v>
                </c:pt>
                <c:pt idx="16">
                  <c:v>1.08226E-3</c:v>
                </c:pt>
                <c:pt idx="17">
                  <c:v>1.081568E-3</c:v>
                </c:pt>
                <c:pt idx="18">
                  <c:v>1.0814990000000001E-3</c:v>
                </c:pt>
                <c:pt idx="19">
                  <c:v>1.0814920000000001E-3</c:v>
                </c:pt>
                <c:pt idx="20">
                  <c:v>1.0814920000000001E-3</c:v>
                </c:pt>
                <c:pt idx="21">
                  <c:v>1.0814920000000001E-3</c:v>
                </c:pt>
                <c:pt idx="22">
                  <c:v>1.0814920000000001E-3</c:v>
                </c:pt>
                <c:pt idx="23">
                  <c:v>1.0814920000000001E-3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281-43C3-BCE0-31696EE46A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86221488"/>
        <c:axId val="1669188640"/>
      </c:scatterChart>
      <c:valAx>
        <c:axId val="1186221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669188640"/>
        <c:crosses val="autoZero"/>
        <c:crossBetween val="midCat"/>
      </c:valAx>
      <c:valAx>
        <c:axId val="166918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862214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96B62-C450-8AD9-0054-6469128C5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EC46CB-34F4-0BEE-A5A7-D179F15FD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78373-12C5-91E4-E1E3-937E8FA4C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6EDAB2-EB7B-A4CF-77F8-393F9F9F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73562-0CAC-FFE2-D780-6B25B341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5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83333-22B9-F47F-DB72-548219A0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4DBEBC-537D-7061-0824-98D2B9C68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2F6764-F641-9693-1B06-05F6A2D1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92EE1E-36B8-3063-81A0-4F761441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5B33C1-D74B-A183-DD06-4CAC3B62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28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45320-7604-6257-932D-327E2810F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E8D05B-841B-AB31-96F2-1E32596A0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23770-1A86-21EC-6361-C1A1D600F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B8C292-8A6F-0CB2-0005-BBB600E6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815428-4955-E461-4562-3B300ADBC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68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366E7-BC7E-25B0-4E1E-E7D4CD5A3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2E9EF-B708-5470-8A61-75B694A325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F9B896A-6A3D-7E19-6DC3-EED659605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D65DD7-6B79-56C8-66B5-98E8A83C3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83981B-9A7A-3949-39C4-612EB8679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8A3B99-5FE9-5415-F2A9-52429C74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5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74A26-FBEA-7E90-0E8A-ADF98CF0E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3ED1D9-B20C-FE24-726F-E5F07FC4F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5BFD6F-A594-4860-3595-34BF82198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4F10DE-7AD1-DECF-1CA2-211D0E486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CAF62CD-4C48-D100-83D0-4C86FA681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BEB6CE-229B-29F9-673E-D8F70E3A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E72D6B-5FF9-9FB3-FAE3-8FBEF284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85C101-2B0B-8E8C-F8C6-002B4253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706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0D8B2-C51F-1ED8-22DD-FA38C8CA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030B14-80EE-2E3E-B1BF-A481E0C1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13F79F-397C-4A31-341E-702D1D88E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4F01ED-796D-5FBC-5E45-635D9BEE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83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93E39D-7D51-9349-5AFE-7CA23BD5E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EEF1B5-CA20-0735-956A-A7460AF01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7F8F6-5008-7991-CB59-AC9C1B354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3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7C2F9-9524-4AF0-D4A5-EB07B52A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C1050-E070-27E4-D52F-3EB3F7AF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F5F2A4-6748-DD89-A08A-9BD1335A4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17CE2-967C-FD59-66B3-10F9D791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4EF695-3891-9593-07E4-213BC9FC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311EF9-CA8E-4302-2FDA-CA602CB22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68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F9152-4CBA-9E3B-3D4A-C3CF8C34D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B85336-A880-4E18-6EEB-2A79047AE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D76799-40BE-BCF7-7027-E80242BE3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782773-8F27-6682-2EC5-0CD3DC74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248C10-D318-2406-684F-35194D6C4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9B036-F918-FC02-2D0D-CDC284AB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0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ABE64-1F95-DBB8-2A4C-0EFA60BA0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5F36CD-65B5-B8E0-C192-9004D77CA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468BEC-D27D-BEB0-EB88-E499A11B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E9F15-3221-145E-2286-CD7C69B6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E8662-B4A0-F4E4-BBA4-F25C75B4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335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84DC7B-0C24-52C5-60E8-E4021A2EB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2F2EF8-613C-0DCA-12BC-9D731DB55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78E9F9-FFCC-E745-04F9-E127678AA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26B40-ABDE-D026-84FA-F191B3A7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A29CCB-25AB-FBDE-BBEB-A1DE9C2E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87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DE8FA9-521F-4895-F1AF-896607E1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F6AA1B-5E98-5950-C67C-936A83025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704BFF-0D1A-D20B-7D15-2C073FC167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747D24-7514-40C3-875F-93D44D9C23F8}" type="datetimeFigureOut">
              <a:rPr lang="ko-KR" altLang="en-US" smtClean="0"/>
              <a:t>2025-12-05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47F0-BECE-92BA-9599-9329E5957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AF73B0-B87F-18EB-8713-0054BF99C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38FDF-0C1B-479F-908C-D8C6164901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06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1FC2B7-1605-16BB-2706-B3FE0A1535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전산유체해석보고서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3AA1CF-2BB1-D0BB-D2B7-7AC44C1736CA}"/>
              </a:ext>
            </a:extLst>
          </p:cNvPr>
          <p:cNvSpPr txBox="1"/>
          <p:nvPr/>
        </p:nvSpPr>
        <p:spPr>
          <a:xfrm>
            <a:off x="7676350" y="4625788"/>
            <a:ext cx="4041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무인항공기학과</a:t>
            </a:r>
            <a:endParaRPr lang="en-US" altLang="ko-KR" dirty="0"/>
          </a:p>
          <a:p>
            <a:r>
              <a:rPr lang="en-US" altLang="ko-KR" dirty="0"/>
              <a:t>2021010617</a:t>
            </a:r>
          </a:p>
          <a:p>
            <a:r>
              <a:rPr lang="ko-KR" altLang="en-US" dirty="0"/>
              <a:t>이민호</a:t>
            </a:r>
          </a:p>
        </p:txBody>
      </p:sp>
    </p:spTree>
    <p:extLst>
      <p:ext uri="{BB962C8B-B14F-4D97-AF65-F5344CB8AC3E}">
        <p14:creationId xmlns:p14="http://schemas.microsoft.com/office/powerpoint/2010/main" val="191014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47DC3B-4638-A582-D9F6-16A96F6280CE}"/>
              </a:ext>
            </a:extLst>
          </p:cNvPr>
          <p:cNvSpPr txBox="1"/>
          <p:nvPr/>
        </p:nvSpPr>
        <p:spPr>
          <a:xfrm>
            <a:off x="453358" y="653143"/>
            <a:ext cx="494851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 형상</a:t>
            </a:r>
            <a:r>
              <a:rPr lang="en-US" altLang="ko-KR" dirty="0"/>
              <a:t>(</a:t>
            </a:r>
            <a:r>
              <a:rPr lang="ko-KR" altLang="en-US" dirty="0"/>
              <a:t>왼쪽</a:t>
            </a:r>
            <a:r>
              <a:rPr lang="en-US" altLang="ko-KR" dirty="0"/>
              <a:t>)</a:t>
            </a:r>
            <a:r>
              <a:rPr lang="ko-KR" altLang="en-US" dirty="0"/>
              <a:t>은 초기 형상</a:t>
            </a:r>
            <a:r>
              <a:rPr lang="en-US" altLang="ko-KR" dirty="0"/>
              <a:t>(</a:t>
            </a:r>
            <a:r>
              <a:rPr lang="ko-KR" altLang="en-US" dirty="0"/>
              <a:t>오른쪽</a:t>
            </a:r>
            <a:r>
              <a:rPr lang="en-US" altLang="ko-KR" dirty="0"/>
              <a:t>)</a:t>
            </a:r>
            <a:r>
              <a:rPr lang="ko-KR" altLang="en-US" dirty="0"/>
              <a:t>에 비해 </a:t>
            </a:r>
            <a:r>
              <a:rPr lang="ko-KR" altLang="en-US" dirty="0" err="1"/>
              <a:t>익형</a:t>
            </a:r>
            <a:r>
              <a:rPr lang="ko-KR" altLang="en-US" dirty="0"/>
              <a:t> 상면에서 더 강한 압력 강하</a:t>
            </a:r>
            <a:r>
              <a:rPr lang="en-US" altLang="ko-KR" dirty="0"/>
              <a:t>(</a:t>
            </a:r>
            <a:r>
              <a:rPr lang="ko-KR" altLang="en-US" dirty="0"/>
              <a:t>저압 영역</a:t>
            </a:r>
            <a:r>
              <a:rPr lang="en-US" altLang="ko-KR" dirty="0"/>
              <a:t>)</a:t>
            </a:r>
            <a:r>
              <a:rPr lang="ko-KR" altLang="en-US" dirty="0"/>
              <a:t>가 형성된 것을 확인할 수 있다</a:t>
            </a:r>
            <a:r>
              <a:rPr lang="en-US" altLang="ko-KR" dirty="0"/>
              <a:t>. </a:t>
            </a:r>
            <a:r>
              <a:rPr lang="ko-KR" altLang="en-US" dirty="0"/>
              <a:t>특히 </a:t>
            </a:r>
            <a:r>
              <a:rPr lang="ko-KR" altLang="en-US" dirty="0" err="1"/>
              <a:t>앞전</a:t>
            </a:r>
            <a:r>
              <a:rPr lang="en-US" altLang="ko-KR" dirty="0"/>
              <a:t>(Leading edge)</a:t>
            </a:r>
            <a:r>
              <a:rPr lang="ko-KR" altLang="en-US" dirty="0"/>
              <a:t>에서 유동이 크게 가속되며 넓은 저압 분포가 나타나 양력 생성 능력이 개선된 특징을 가진다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초기 형상은 상면 저압 영역이 상대적으로 좁고 완만하게 분포하여 양력 생성 효과가 다소 제한적인 형태를 보인다</a:t>
            </a:r>
            <a:r>
              <a:rPr lang="en-US" altLang="ko-KR" dirty="0"/>
              <a:t>. </a:t>
            </a:r>
            <a:r>
              <a:rPr lang="ko-KR" altLang="en-US" dirty="0"/>
              <a:t>또한 초기 형상에서는 </a:t>
            </a:r>
            <a:r>
              <a:rPr lang="ko-KR" altLang="en-US" dirty="0" err="1"/>
              <a:t>후방부</a:t>
            </a:r>
            <a:r>
              <a:rPr lang="ko-KR" altLang="en-US" dirty="0"/>
              <a:t> 압력 회복이 비교적 불안정한 반면</a:t>
            </a:r>
            <a:r>
              <a:rPr lang="en-US" altLang="ko-KR" dirty="0"/>
              <a:t>, </a:t>
            </a:r>
            <a:r>
              <a:rPr lang="ko-KR" altLang="en-US" dirty="0"/>
              <a:t>최종 형상에서는 압력 회복이 더욱 자연스럽게 이루어져 공력 손실이 감소한다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최종설계 형상은 유도되는 압력차가 증가하면서 양력이 향상되고 항력이 감소하는 방향으로 공력 성능이 개선됨을 확인 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스크린샷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F2939D-8EA1-517A-B62D-87D7C9DC7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854" y="0"/>
            <a:ext cx="5537627" cy="2415917"/>
          </a:xfrm>
          <a:prstGeom prst="rect">
            <a:avLst/>
          </a:prstGeom>
        </p:spPr>
      </p:pic>
      <p:pic>
        <p:nvPicPr>
          <p:cNvPr id="6" name="그림 5" descr="다채로움, 스크린샷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590B9F-469D-7968-E2F8-0C4E07DC88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854" y="3188874"/>
            <a:ext cx="5537627" cy="2699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BA59FE-C5EA-59A0-0324-AB111F14F823}"/>
              </a:ext>
            </a:extLst>
          </p:cNvPr>
          <p:cNvSpPr txBox="1"/>
          <p:nvPr/>
        </p:nvSpPr>
        <p:spPr>
          <a:xfrm>
            <a:off x="6354696" y="2589519"/>
            <a:ext cx="538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초기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ED58E-BE99-4B3B-D8A2-9673C31ED1BE}"/>
              </a:ext>
            </a:extLst>
          </p:cNvPr>
          <p:cNvSpPr txBox="1"/>
          <p:nvPr/>
        </p:nvSpPr>
        <p:spPr>
          <a:xfrm>
            <a:off x="6354696" y="6147227"/>
            <a:ext cx="553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최종</a:t>
            </a:r>
          </a:p>
        </p:txBody>
      </p:sp>
    </p:spTree>
    <p:extLst>
      <p:ext uri="{BB962C8B-B14F-4D97-AF65-F5344CB8AC3E}">
        <p14:creationId xmlns:p14="http://schemas.microsoft.com/office/powerpoint/2010/main" val="113911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AE3E1B-AF5F-C2E6-F6AA-8C7BC0B7424C}"/>
              </a:ext>
            </a:extLst>
          </p:cNvPr>
          <p:cNvSpPr txBox="1"/>
          <p:nvPr/>
        </p:nvSpPr>
        <p:spPr>
          <a:xfrm>
            <a:off x="215153" y="576303"/>
            <a:ext cx="475641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파란색 곡선</a:t>
            </a:r>
            <a:r>
              <a:rPr lang="en-US" altLang="ko-KR" dirty="0"/>
              <a:t>(1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이 전체적으로 더 낮은 </a:t>
            </a:r>
            <a:r>
              <a:rPr lang="en-US" altLang="ko-KR" dirty="0"/>
              <a:t>Cp(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더 큰 </a:t>
            </a:r>
            <a:r>
              <a:rPr lang="ko-KR" altLang="en-US" dirty="0" err="1"/>
              <a:t>음압</a:t>
            </a:r>
            <a:r>
              <a:rPr lang="en-US" altLang="ko-KR" dirty="0"/>
              <a:t>)</a:t>
            </a:r>
            <a:r>
              <a:rPr lang="ko-KR" altLang="en-US" dirty="0"/>
              <a:t>를 나타내고 있어</a:t>
            </a:r>
            <a:r>
              <a:rPr lang="en-US" altLang="ko-KR" dirty="0"/>
              <a:t>, </a:t>
            </a:r>
            <a:r>
              <a:rPr lang="ko-KR" altLang="en-US" dirty="0"/>
              <a:t>상면에서 유동 가속이 더 크게 발생한 것을 알 수 있다</a:t>
            </a:r>
            <a:r>
              <a:rPr lang="en-US" altLang="ko-KR" dirty="0"/>
              <a:t>. </a:t>
            </a:r>
            <a:r>
              <a:rPr lang="ko-KR" altLang="en-US" dirty="0"/>
              <a:t>이는 해당 형상이 더 큰 양력을 생성한다는 것을 의미한다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특히 </a:t>
            </a:r>
            <a:r>
              <a:rPr lang="ko-KR" altLang="en-US" dirty="0" err="1"/>
              <a:t>앞전</a:t>
            </a:r>
            <a:r>
              <a:rPr lang="en-US" altLang="ko-KR" dirty="0"/>
              <a:t>(Leading edge) </a:t>
            </a:r>
            <a:r>
              <a:rPr lang="ko-KR" altLang="en-US" dirty="0"/>
              <a:t>근처에서 파란색이 큰 </a:t>
            </a:r>
            <a:r>
              <a:rPr lang="ko-KR" altLang="en-US" dirty="0" err="1"/>
              <a:t>음압</a:t>
            </a:r>
            <a:r>
              <a:rPr lang="ko-KR" altLang="en-US" dirty="0"/>
              <a:t> 피크를 보이며 더 강한 흡입력이 형성되고 있으며</a:t>
            </a:r>
            <a:r>
              <a:rPr lang="en-US" altLang="ko-KR" dirty="0"/>
              <a:t>, </a:t>
            </a:r>
            <a:r>
              <a:rPr lang="ko-KR" altLang="en-US" dirty="0"/>
              <a:t>후방</a:t>
            </a:r>
            <a:r>
              <a:rPr lang="en-US" altLang="ko-KR" dirty="0"/>
              <a:t>(Trailing Edge)</a:t>
            </a:r>
            <a:r>
              <a:rPr lang="ko-KR" altLang="en-US" dirty="0"/>
              <a:t>에서도 압력 차이를 비교적 유지하여 공력 효율이 우수한 특성을 확인할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반면 주황색 곡선</a:t>
            </a:r>
            <a:r>
              <a:rPr lang="en-US" altLang="ko-KR" dirty="0"/>
              <a:t>(32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은 압력 강하가 상대적으로 약하고</a:t>
            </a:r>
            <a:r>
              <a:rPr lang="en-US" altLang="ko-KR" dirty="0"/>
              <a:t>, </a:t>
            </a:r>
            <a:r>
              <a:rPr lang="ko-KR" altLang="en-US" dirty="0"/>
              <a:t>후방으로 갈수록 압력 회복이 더 크게 나타나 항력 증가 가능성이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4" name="그림 3" descr="도표, 라인, 그래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4EC784-B31E-CB2A-B54E-E97912A7D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656" y="710199"/>
            <a:ext cx="5030984" cy="397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9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1FC61C-BB28-7209-663C-C81F6D6202D0}"/>
              </a:ext>
            </a:extLst>
          </p:cNvPr>
          <p:cNvSpPr txBox="1"/>
          <p:nvPr/>
        </p:nvSpPr>
        <p:spPr>
          <a:xfrm>
            <a:off x="537882" y="553250"/>
            <a:ext cx="46181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시뮬레이션 초기 단계에서는 항력계수가 약 </a:t>
            </a:r>
            <a:r>
              <a:rPr lang="en-US" altLang="ko-KR" dirty="0"/>
              <a:t>0.02 </a:t>
            </a:r>
            <a:r>
              <a:rPr lang="ko-KR" altLang="en-US" dirty="0"/>
              <a:t>이상 높게 나타났으나</a:t>
            </a:r>
            <a:r>
              <a:rPr lang="en-US" altLang="ko-KR" dirty="0"/>
              <a:t>, </a:t>
            </a:r>
            <a:r>
              <a:rPr lang="ko-KR" altLang="en-US" dirty="0"/>
              <a:t>계산이 진행될수록 점차 감소하며 약 </a:t>
            </a:r>
            <a:r>
              <a:rPr lang="en-US" altLang="ko-KR" dirty="0"/>
              <a:t>0.0001 </a:t>
            </a:r>
            <a:r>
              <a:rPr lang="ko-KR" altLang="en-US" dirty="0"/>
              <a:t>근처에서 안정적으로 수렴하였다</a:t>
            </a:r>
            <a:r>
              <a:rPr lang="en-US" altLang="ko-KR" dirty="0"/>
              <a:t>. </a:t>
            </a:r>
            <a:r>
              <a:rPr lang="ko-KR" altLang="en-US" dirty="0"/>
              <a:t>이는 초기 비정상 유동이 제거되고</a:t>
            </a:r>
            <a:r>
              <a:rPr lang="en-US" altLang="ko-KR" dirty="0"/>
              <a:t>, </a:t>
            </a:r>
            <a:r>
              <a:rPr lang="ko-KR" altLang="en-US" dirty="0"/>
              <a:t>해석이 정상상태</a:t>
            </a:r>
            <a:r>
              <a:rPr lang="en-US" altLang="ko-KR" dirty="0"/>
              <a:t>(Converged State)</a:t>
            </a:r>
            <a:r>
              <a:rPr lang="ko-KR" altLang="en-US" dirty="0"/>
              <a:t>에 도달했음을 의미한다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결과적으로 항력은 매우 낮은 수준에서 안정적으로 계산되었으며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ko-KR" altLang="en-US" dirty="0" err="1"/>
              <a:t>익형의</a:t>
            </a:r>
            <a:r>
              <a:rPr lang="ko-KR" altLang="en-US" dirty="0"/>
              <a:t> 공력 효율이 높고 항력 성능이 우수함을 보여준다</a:t>
            </a:r>
          </a:p>
          <a:p>
            <a:endParaRPr lang="ko-KR" altLang="en-US" dirty="0"/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7519A43C-6187-C017-AAD6-88829D21EA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2562781"/>
              </p:ext>
            </p:extLst>
          </p:nvPr>
        </p:nvGraphicFramePr>
        <p:xfrm>
          <a:off x="6030366" y="797913"/>
          <a:ext cx="4333875" cy="195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297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273</Words>
  <Application>Microsoft Office PowerPoint</Application>
  <PresentationFormat>와이드스크린</PresentationFormat>
  <Paragraphs>15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전산유체해석보고서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이민호</dc:creator>
  <cp:lastModifiedBy>이민호</cp:lastModifiedBy>
  <cp:revision>1</cp:revision>
  <dcterms:created xsi:type="dcterms:W3CDTF">2025-12-04T17:59:27Z</dcterms:created>
  <dcterms:modified xsi:type="dcterms:W3CDTF">2025-12-04T18:13:40Z</dcterms:modified>
</cp:coreProperties>
</file>